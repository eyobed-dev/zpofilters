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63" r:id="rId3"/>
    <p:sldId id="268" r:id="rId4"/>
    <p:sldId id="269" r:id="rId5"/>
    <p:sldId id="267" r:id="rId6"/>
  </p:sldIdLst>
  <p:sldSz cx="12192000" cy="6858000"/>
  <p:notesSz cx="6858000" cy="9144000"/>
  <p:embeddedFontLst>
    <p:embeddedFont>
      <p:font typeface="Cambria Math" panose="02040503050406030204" pitchFamily="18" charset="0"/>
      <p:regular r:id="rId11"/>
    </p:embeddedFon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Tahoma" panose="020B0604030504040204" pitchFamily="3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8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Char char="•"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fld>
            <a:endParaRPr sz="12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Úvodní snímek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7719" y="5157192"/>
            <a:ext cx="4182937" cy="86186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/>
          <p:nvPr/>
        </p:nvSpPr>
        <p:spPr>
          <a:xfrm>
            <a:off x="10824676" y="6530975"/>
            <a:ext cx="65617" cy="287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None/>
            </a:pPr>
            <a:endParaRPr sz="2400" b="1" i="0" u="none" strike="noStrike" cap="none">
              <a:solidFill>
                <a:srgbClr val="B9000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6086" y="-26640"/>
            <a:ext cx="12198085" cy="3598863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None/>
            </a:pPr>
            <a:endParaRPr sz="2400" b="1" i="0" u="none" strike="noStrike" cap="none">
              <a:solidFill>
                <a:srgbClr val="B9000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0841609" y="6530975"/>
            <a:ext cx="48684" cy="287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None/>
            </a:pPr>
            <a:endParaRPr sz="2400" b="1" i="0" u="none" strike="noStrike" cap="none">
              <a:solidFill>
                <a:srgbClr val="B9000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0841609" y="6530975"/>
            <a:ext cx="48684" cy="287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None/>
            </a:pPr>
            <a:endParaRPr sz="2400" b="1" i="0" u="none" strike="noStrike" cap="none">
              <a:solidFill>
                <a:srgbClr val="B9000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0" y="3621088"/>
            <a:ext cx="7464152" cy="10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0" y="1958976"/>
            <a:ext cx="7464152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ý">
  <p:cSld name="Prázdný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Záhlaví části">
  <p:cSld name="SECTION_HEADER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8" name="Google Shape;38;p5"/>
          <p:cNvSpPr/>
          <p:nvPr/>
        </p:nvSpPr>
        <p:spPr>
          <a:xfrm>
            <a:off x="0" y="0"/>
            <a:ext cx="12192000" cy="548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None/>
            </a:pPr>
            <a:endParaRPr sz="2400" b="1" i="0" u="none" strike="noStrike" cap="none">
              <a:solidFill>
                <a:srgbClr val="B9000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va obsahy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431800" y="765175"/>
            <a:ext cx="5657851" cy="533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6292851" y="765175"/>
            <a:ext cx="5659967" cy="533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ání">
  <p:cSld name="Porovnání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1600" b="1"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Obsah s titulkem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/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E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A9E0"/>
                </a:solidFill>
                <a:latin typeface="Calibri"/>
                <a:ea typeface="Calibri"/>
                <a:cs typeface="Calibri"/>
                <a:sym typeface="Calibri"/>
              </a:rPr>
              <a:t>Klepnutím lze upravit styl předlohy nadpisů.</a:t>
            </a:r>
            <a:endParaRPr sz="2600" b="0" i="0" u="none" strike="noStrike" cap="none">
              <a:solidFill>
                <a:srgbClr val="00A9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4766733" y="692697"/>
            <a:ext cx="6815667" cy="543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sz="2000"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Obrázek s titulkem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E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A9E0"/>
                </a:solidFill>
                <a:latin typeface="Calibri"/>
                <a:ea typeface="Calibri"/>
                <a:cs typeface="Calibri"/>
                <a:sym typeface="Calibri"/>
              </a:rPr>
              <a:t>Klepnutím lze upravit styl předlohy nadpisů.</a:t>
            </a:r>
            <a:endParaRPr sz="2600" b="0" i="0" u="none" strike="noStrike" cap="none">
              <a:solidFill>
                <a:srgbClr val="00A9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Nadpis a svislý text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 rot="5400000">
            <a:off x="3174951" y="-1977975"/>
            <a:ext cx="6034717" cy="11521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Svislý nadpis a text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/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E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A9E0"/>
                </a:solidFill>
                <a:latin typeface="Calibri"/>
                <a:ea typeface="Calibri"/>
                <a:cs typeface="Calibri"/>
                <a:sym typeface="Calibri"/>
              </a:rPr>
              <a:t>Klepnutím lze upravit styl předlohy nadpisů.</a:t>
            </a:r>
            <a:endParaRPr sz="2600" b="0" i="0" u="none" strike="noStrike" cap="none">
              <a:solidFill>
                <a:srgbClr val="00A9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 rot="5400000">
            <a:off x="7415478" y="1558660"/>
            <a:ext cx="6196013" cy="287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53370" y="-1221582"/>
            <a:ext cx="6196013" cy="843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1"/>
            <a:ext cx="12192000" cy="547688"/>
            <a:chOff x="0" y="1"/>
            <a:chExt cx="12192000" cy="547688"/>
          </a:xfrm>
        </p:grpSpPr>
        <p:sp>
          <p:nvSpPr>
            <p:cNvPr id="11" name="Google Shape;11;p1"/>
            <p:cNvSpPr/>
            <p:nvPr/>
          </p:nvSpPr>
          <p:spPr>
            <a:xfrm>
              <a:off x="0" y="1"/>
              <a:ext cx="12192000" cy="512763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B9000C"/>
                </a:buClr>
                <a:buSzPts val="2400"/>
                <a:buFont typeface="Tahoma"/>
                <a:buNone/>
              </a:pPr>
              <a:endPara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512764"/>
              <a:ext cx="12192000" cy="34925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B9000C"/>
                </a:buClr>
                <a:buSzPts val="2400"/>
                <a:buFont typeface="Tahoma"/>
                <a:buNone/>
              </a:pPr>
              <a:endParaRPr sz="2400" b="1" i="0" u="none" strike="noStrike" cap="none">
                <a:solidFill>
                  <a:srgbClr val="B9000C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A9E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1B85B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431801" y="765175"/>
            <a:ext cx="11521017" cy="603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430000" y="6524626"/>
            <a:ext cx="56938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6" name="Google Shape;16;p1"/>
          <p:cNvSpPr/>
          <p:nvPr/>
        </p:nvSpPr>
        <p:spPr>
          <a:xfrm>
            <a:off x="287867" y="115889"/>
            <a:ext cx="63500" cy="288925"/>
          </a:xfrm>
          <a:prstGeom prst="rect">
            <a:avLst/>
          </a:prstGeom>
          <a:solidFill>
            <a:srgbClr val="FE0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None/>
            </a:pP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777335" y="116632"/>
            <a:ext cx="63500" cy="288925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000C"/>
              </a:buClr>
              <a:buSzPts val="2400"/>
              <a:buFont typeface="Tahoma"/>
              <a:buNone/>
            </a:pP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968508" y="53450"/>
            <a:ext cx="1095817" cy="4389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Histogram Equalization</a:t>
            </a:r>
            <a:endParaRPr lang="en-US" alt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030" y="3717290"/>
            <a:ext cx="2604135" cy="2604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490" y="3717290"/>
            <a:ext cx="2604135" cy="2604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71005" y="6428187"/>
            <a:ext cx="1926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dirty="0"/>
              <a:t>Original Image</a:t>
            </a:r>
            <a:endParaRPr lang="tr-TR" dirty="0"/>
          </a:p>
        </p:txBody>
      </p:sp>
      <p:sp>
        <p:nvSpPr>
          <p:cNvPr id="13" name="TextBox 12"/>
          <p:cNvSpPr txBox="1"/>
          <p:nvPr/>
        </p:nvSpPr>
        <p:spPr>
          <a:xfrm>
            <a:off x="9424035" y="6428105"/>
            <a:ext cx="2653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tr-TR" dirty="0"/>
              <a:t>Histogram Equalized image</a:t>
            </a:r>
            <a:endParaRPr lang="en-US" altLang="tr-T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65" y="867410"/>
            <a:ext cx="2603500" cy="2603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540" y="885190"/>
            <a:ext cx="2585720" cy="2585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870" y="867410"/>
            <a:ext cx="5900420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Enhances image contrast by evenly redistributing pixel intensities.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rPr lang="en-US"/>
              <a:t>Done in</a:t>
            </a:r>
            <a:r>
              <a:t> YCrCb color space </a:t>
            </a:r>
            <a:r>
              <a:rPr lang="en-US"/>
              <a:t>on the</a:t>
            </a:r>
            <a:r>
              <a:t> luminance (Y) </a:t>
            </a:r>
            <a:r>
              <a:rPr lang="en-US"/>
              <a:t>other wise color shifting happens for color images</a:t>
            </a:r>
            <a:r>
              <a:t>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rPr lang="en-US"/>
              <a:t>We calculate </a:t>
            </a:r>
            <a:r>
              <a:t>the PDF and CDF of pixel frequencies.</a:t>
            </a: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sp>
        <p:nvSpPr>
          <p:cNvPr id="7" name="Text Box 6"/>
          <p:cNvSpPr txBox="1"/>
          <p:nvPr/>
        </p:nvSpPr>
        <p:spPr>
          <a:xfrm>
            <a:off x="255270" y="4312285"/>
            <a:ext cx="5878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1800"/>
            </a:pPr>
            <a:r>
              <a:rPr lang="en-US">
                <a:sym typeface="+mn-ea"/>
              </a:rPr>
              <a:t>Then we</a:t>
            </a:r>
            <a:r>
              <a:rPr>
                <a:sym typeface="+mn-ea"/>
              </a:rPr>
              <a:t> scale CDF</a:t>
            </a:r>
            <a:r>
              <a:rPr lang="en-US">
                <a:sym typeface="+mn-ea"/>
              </a:rPr>
              <a:t> and remap to the pixels </a:t>
            </a:r>
            <a:endParaRPr lang="en-US"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0" y="3307715"/>
            <a:ext cx="2443480" cy="6800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070" y="3324225"/>
            <a:ext cx="2404745" cy="6464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270" y="4890135"/>
            <a:ext cx="4448810" cy="56705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255270" y="5741670"/>
            <a:ext cx="350456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defRPr sz="1800"/>
            </a:pPr>
            <a:r>
              <a:rPr lang="en-US">
                <a:sym typeface="+mn-ea"/>
              </a:rPr>
              <a:t>and finally</a:t>
            </a:r>
            <a:r>
              <a:rPr>
                <a:sym typeface="+mn-ea"/>
              </a:rPr>
              <a:t> convert back to BGR.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Posterize Filter</a:t>
            </a:r>
            <a:endParaRPr lang="en-US" alt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" y="3188970"/>
            <a:ext cx="3028315" cy="30283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8285" y="6343732"/>
            <a:ext cx="1926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dirty="0"/>
              <a:t>Original Image</a:t>
            </a:r>
            <a:endParaRPr lang="tr-T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130" y="3166110"/>
            <a:ext cx="3019425" cy="3019425"/>
          </a:xfrm>
          <a:prstGeom prst="rect">
            <a:avLst/>
          </a:prstGeom>
        </p:spPr>
      </p:pic>
      <p:sp>
        <p:nvSpPr>
          <p:cNvPr id="5" name="TextBox 7"/>
          <p:cNvSpPr txBox="1"/>
          <p:nvPr/>
        </p:nvSpPr>
        <p:spPr>
          <a:xfrm>
            <a:off x="9498330" y="6343732"/>
            <a:ext cx="192677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tr-TR" dirty="0"/>
              <a:t>Posterize L=4</a:t>
            </a:r>
            <a:endParaRPr lang="en-US" altLang="tr-T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3134360"/>
            <a:ext cx="3082925" cy="3082925"/>
          </a:xfrm>
          <a:prstGeom prst="rect">
            <a:avLst/>
          </a:prstGeom>
        </p:spPr>
      </p:pic>
      <p:sp>
        <p:nvSpPr>
          <p:cNvPr id="11" name="TextBox 7"/>
          <p:cNvSpPr txBox="1"/>
          <p:nvPr/>
        </p:nvSpPr>
        <p:spPr>
          <a:xfrm>
            <a:off x="5132705" y="6345002"/>
            <a:ext cx="192677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tr-TR" dirty="0"/>
              <a:t>Posterize L=8</a:t>
            </a:r>
            <a:endParaRPr lang="en-US" altLang="tr-TR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" y="621030"/>
            <a:ext cx="8229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Reduces the number of distinct colors, creating a </a:t>
            </a:r>
            <a:r>
              <a:rPr lang="en-US"/>
              <a:t>poster printer</a:t>
            </a:r>
            <a:r>
              <a:t> effect.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585" y="937895"/>
            <a:ext cx="1222375" cy="708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840" y="1424940"/>
            <a:ext cx="4999990" cy="8401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780" y="2217420"/>
            <a:ext cx="5402580" cy="72644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48590" y="1522095"/>
            <a:ext cx="70961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1800"/>
            </a:pPr>
            <a:r>
              <a:rPr lang="en-US">
                <a:sym typeface="+mn-ea"/>
              </a:rPr>
              <a:t>Thenfor all intensity i,</a:t>
            </a:r>
            <a:r>
              <a:rPr>
                <a:sym typeface="+mn-ea"/>
              </a:rPr>
              <a:t> precomputed Look</a:t>
            </a:r>
            <a:r>
              <a:rPr lang="en-US">
                <a:sym typeface="+mn-ea"/>
              </a:rPr>
              <a:t> u</a:t>
            </a:r>
            <a:r>
              <a:rPr>
                <a:sym typeface="+mn-ea"/>
              </a:rPr>
              <a:t>p Table (LUT) </a:t>
            </a:r>
            <a:r>
              <a:rPr lang="en-US">
                <a:sym typeface="+mn-ea"/>
              </a:rPr>
              <a:t>is made for performance reason</a:t>
            </a:r>
            <a:endParaRPr lang="en-US">
              <a:sym typeface="+mn-ea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91440" y="2327910"/>
            <a:ext cx="75330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800"/>
              <a:t>Finally Each BGR channel is independently mapped:</a:t>
            </a:r>
            <a:endParaRPr lang="en-US" sz="1800"/>
          </a:p>
        </p:txBody>
      </p:sp>
      <p:sp>
        <p:nvSpPr>
          <p:cNvPr id="17" name="Text Box 16"/>
          <p:cNvSpPr txBox="1"/>
          <p:nvPr/>
        </p:nvSpPr>
        <p:spPr>
          <a:xfrm>
            <a:off x="235585" y="1056640"/>
            <a:ext cx="434530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defRPr sz="1800"/>
            </a:pPr>
            <a:r>
              <a:rPr lang="en-US">
                <a:sym typeface="+mn-ea"/>
              </a:rPr>
              <a:t>We first set</a:t>
            </a:r>
            <a:r>
              <a:rPr>
                <a:sym typeface="+mn-ea"/>
              </a:rPr>
              <a:t> color quantization levels (L).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Vignette Blur Filter</a:t>
            </a:r>
            <a:endParaRPr lang="en-US" alt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820" y="702945"/>
            <a:ext cx="2825750" cy="282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8735" y="6431362"/>
            <a:ext cx="1926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dirty="0"/>
              <a:t>Original Image</a:t>
            </a:r>
            <a:endParaRPr lang="tr-T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405" y="713740"/>
            <a:ext cx="2814955" cy="28149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820" y="3610610"/>
            <a:ext cx="2825750" cy="2825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405" y="3621405"/>
            <a:ext cx="2807335" cy="2807335"/>
          </a:xfrm>
          <a:prstGeom prst="rect">
            <a:avLst/>
          </a:prstGeom>
        </p:spPr>
      </p:pic>
      <p:sp>
        <p:nvSpPr>
          <p:cNvPr id="12" name="TextBox 7"/>
          <p:cNvSpPr txBox="1"/>
          <p:nvPr/>
        </p:nvSpPr>
        <p:spPr>
          <a:xfrm>
            <a:off x="9653905" y="6521532"/>
            <a:ext cx="192677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tr-TR" dirty="0"/>
              <a:t>Vignette blurring</a:t>
            </a:r>
            <a:endParaRPr lang="en-US" altLang="tr-TR" dirty="0"/>
          </a:p>
        </p:txBody>
      </p:sp>
      <p:sp>
        <p:nvSpPr>
          <p:cNvPr id="13" name="TextBox 12"/>
          <p:cNvSpPr txBox="1"/>
          <p:nvPr/>
        </p:nvSpPr>
        <p:spPr>
          <a:xfrm>
            <a:off x="179070" y="705485"/>
            <a:ext cx="58337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Keeps the center sharp while gradually blurring towards the edges.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8415" y="3155950"/>
            <a:ext cx="2524760" cy="6248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9070" y="2145665"/>
            <a:ext cx="56876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1800"/>
            </a:pPr>
            <a:r>
              <a:rPr lang="en-US">
                <a:sym typeface="+mn-ea"/>
              </a:rPr>
              <a:t> Then we c</a:t>
            </a:r>
            <a:r>
              <a:rPr>
                <a:sym typeface="+mn-ea"/>
              </a:rPr>
              <a:t>ompute the normalized radial distance from the center of the image.</a:t>
            </a:r>
            <a:r>
              <a:rPr lang="en-US">
                <a:sym typeface="+mn-ea"/>
              </a:rPr>
              <a:t> C</a:t>
            </a:r>
            <a:r>
              <a:rPr lang="en-US" baseline="-25000">
                <a:sym typeface="+mn-ea"/>
              </a:rPr>
              <a:t>x  </a:t>
            </a:r>
            <a:r>
              <a:rPr lang="en-US">
                <a:sym typeface="+mn-ea"/>
              </a:rPr>
              <a:t>and C</a:t>
            </a:r>
            <a:r>
              <a:rPr lang="en-US" baseline="-25000">
                <a:sym typeface="+mn-ea"/>
              </a:rPr>
              <a:t>y </a:t>
            </a:r>
            <a:r>
              <a:rPr lang="en-US">
                <a:sym typeface="+mn-ea"/>
              </a:rPr>
              <a:t> are center of the image</a:t>
            </a:r>
            <a:endParaRPr lang="en-US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25120" y="4732020"/>
            <a:ext cx="56356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1800"/>
            </a:pPr>
            <a:r>
              <a:rPr lang="en-US">
                <a:sym typeface="+mn-ea"/>
              </a:rPr>
              <a:t>Finally we mix</a:t>
            </a:r>
            <a:r>
              <a:rPr>
                <a:sym typeface="+mn-ea"/>
              </a:rPr>
              <a:t> the original and the blurred image based on the radial distance.</a:t>
            </a:r>
            <a:endParaRPr lang="en-US"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10" y="3260090"/>
            <a:ext cx="1511300" cy="45656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030" y="3869055"/>
            <a:ext cx="2147570" cy="4406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920" y="5377180"/>
            <a:ext cx="4678045" cy="593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3175" y="1386840"/>
            <a:ext cx="1040765" cy="53276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238125" y="1454785"/>
            <a:ext cx="4576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1800"/>
            </a:pPr>
            <a:r>
              <a:rPr lang="en-US">
                <a:sym typeface="+mn-ea"/>
              </a:rPr>
              <a:t>For each pixel, p</a:t>
            </a:r>
            <a:r>
              <a:rPr>
                <a:sym typeface="+mn-ea"/>
              </a:rPr>
              <a:t>erform a 15x15 box-blur</a:t>
            </a:r>
            <a:r>
              <a:rPr lang="en-US">
                <a:sym typeface="+mn-ea"/>
              </a:rPr>
              <a:t> </a:t>
            </a:r>
            <a:endParaRPr lang="en-US">
              <a:sym typeface="+mn-ea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4686935" y="1534795"/>
            <a:ext cx="303530" cy="236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Lens Distortion Effect</a:t>
            </a:r>
            <a:endParaRPr lang="en-US" alt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" y="3294380"/>
            <a:ext cx="3028315" cy="30283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8285" y="6449142"/>
            <a:ext cx="1926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dirty="0"/>
              <a:t>Original Image</a:t>
            </a:r>
            <a:endParaRPr lang="tr-TR" dirty="0"/>
          </a:p>
        </p:txBody>
      </p:sp>
      <p:sp>
        <p:nvSpPr>
          <p:cNvPr id="13" name="TextBox 12"/>
          <p:cNvSpPr txBox="1"/>
          <p:nvPr/>
        </p:nvSpPr>
        <p:spPr>
          <a:xfrm>
            <a:off x="4769485" y="6450330"/>
            <a:ext cx="2653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tr-TR" dirty="0"/>
              <a:t>Lens distortion (barrel) k=0.2</a:t>
            </a:r>
            <a:endParaRPr lang="en-US" altLang="tr-TR" dirty="0"/>
          </a:p>
        </p:txBody>
      </p:sp>
      <p:sp>
        <p:nvSpPr>
          <p:cNvPr id="7" name="TextBox 12"/>
          <p:cNvSpPr txBox="1"/>
          <p:nvPr/>
        </p:nvSpPr>
        <p:spPr>
          <a:xfrm>
            <a:off x="8304530" y="6383020"/>
            <a:ext cx="3336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tr-TR" dirty="0"/>
              <a:t>Lens distortion (Pin cushion) k=-0.2</a:t>
            </a:r>
            <a:endParaRPr lang="en-US" altLang="tr-T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5" y="3294380"/>
            <a:ext cx="3028950" cy="30289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190" y="3302000"/>
            <a:ext cx="3021965" cy="30219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590" y="621030"/>
            <a:ext cx="8229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Simulates optical lens distortion using </a:t>
            </a:r>
            <a:r>
              <a:rPr lang="en-US"/>
              <a:t>inverse</a:t>
            </a:r>
            <a:r>
              <a:t> mapping.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25" y="1146810"/>
            <a:ext cx="1365885" cy="412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545" y="965835"/>
            <a:ext cx="2409825" cy="5962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300" y="1500505"/>
            <a:ext cx="2002790" cy="486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915" y="1906905"/>
            <a:ext cx="4857115" cy="64325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431800" y="1559560"/>
            <a:ext cx="90849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8"/>
            <a:r>
              <a:rPr lang="en-US" sz="1800"/>
              <a:t>We calculate lens distortion. +ve k produces barrel, -ve k produces pincushion effect.</a:t>
            </a:r>
            <a:endParaRPr lang="en-US" sz="1800"/>
          </a:p>
        </p:txBody>
      </p:sp>
      <p:sp>
        <p:nvSpPr>
          <p:cNvPr id="17" name="Text Box 16"/>
          <p:cNvSpPr txBox="1"/>
          <p:nvPr/>
        </p:nvSpPr>
        <p:spPr>
          <a:xfrm>
            <a:off x="148590" y="946150"/>
            <a:ext cx="3509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/>
              <a:t>For each pixel in dst image:</a:t>
            </a:r>
            <a:endParaRPr lang="en-US" sz="1800"/>
          </a:p>
        </p:txBody>
      </p:sp>
      <p:sp>
        <p:nvSpPr>
          <p:cNvPr id="18" name="Text Box 17"/>
          <p:cNvSpPr txBox="1"/>
          <p:nvPr/>
        </p:nvSpPr>
        <p:spPr>
          <a:xfrm>
            <a:off x="431800" y="1264285"/>
            <a:ext cx="4790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/>
              <a:t>We get normalized distance again</a:t>
            </a:r>
            <a:endParaRPr lang="en-US" sz="1800"/>
          </a:p>
        </p:txBody>
      </p:sp>
      <p:sp>
        <p:nvSpPr>
          <p:cNvPr id="19" name="Text Box 18"/>
          <p:cNvSpPr txBox="1"/>
          <p:nvPr/>
        </p:nvSpPr>
        <p:spPr>
          <a:xfrm>
            <a:off x="431800" y="1906905"/>
            <a:ext cx="645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/>
              <a:t>Finally we apply the distortion on d, then undo the normalization.</a:t>
            </a:r>
            <a:endParaRPr lang="en-US" sz="1800"/>
          </a:p>
        </p:txBody>
      </p:sp>
      <p:sp>
        <p:nvSpPr>
          <p:cNvPr id="20" name="Text Box 19"/>
          <p:cNvSpPr txBox="1"/>
          <p:nvPr/>
        </p:nvSpPr>
        <p:spPr>
          <a:xfrm>
            <a:off x="149860" y="2656840"/>
            <a:ext cx="11492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/>
              <a:t>Nearest neighbor interpolation is used to get the src pixels s</a:t>
            </a:r>
            <a:r>
              <a:rPr lang="en-US" sz="1800" baseline="-25000"/>
              <a:t>x</a:t>
            </a:r>
            <a:r>
              <a:rPr lang="en-US" sz="1800"/>
              <a:t> and s</a:t>
            </a:r>
            <a:r>
              <a:rPr lang="en-US" sz="1800" baseline="-25000"/>
              <a:t>y</a:t>
            </a:r>
            <a:r>
              <a:rPr lang="en-US" sz="1800"/>
              <a:t>. For out of bound results pixel is set to black  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01021 FIT Calibri">
  <a:themeElements>
    <a:clrScheme name="a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WPS Presentation</Application>
  <PresentationFormat>Widescreen</PresentationFormat>
  <Paragraphs>68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SimSun</vt:lpstr>
      <vt:lpstr>Wingdings</vt:lpstr>
      <vt:lpstr>Arial</vt:lpstr>
      <vt:lpstr>DejaVu Sans</vt:lpstr>
      <vt:lpstr>Tahoma</vt:lpstr>
      <vt:lpstr>Calibri</vt:lpstr>
      <vt:lpstr>Century Gothic</vt:lpstr>
      <vt:lpstr>Comfortaa Light</vt:lpstr>
      <vt:lpstr>Microsoft YaHei</vt:lpstr>
      <vt:lpstr>Droid Sans Fallback</vt:lpstr>
      <vt:lpstr>Arial Unicode MS</vt:lpstr>
      <vt:lpstr>OpenSymbol</vt:lpstr>
      <vt:lpstr>101021 FIT Calibri</vt:lpstr>
      <vt:lpstr>Histogram Equalization</vt:lpstr>
      <vt:lpstr>Posterize Filter</vt:lpstr>
      <vt:lpstr>Vignette Blur Filter</vt:lpstr>
      <vt:lpstr>Lens Distortion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eyobed</cp:lastModifiedBy>
  <cp:revision>122</cp:revision>
  <dcterms:created xsi:type="dcterms:W3CDTF">2026-05-14T09:53:44Z</dcterms:created>
  <dcterms:modified xsi:type="dcterms:W3CDTF">2026-05-14T09:53:44Z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